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207" d="100"/>
          <a:sy n="207" d="100"/>
        </p:scale>
        <p:origin x="174" y="1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Faltín" userId="f49ad7cc-fcd2-4bf0-a2a5-40893ad535ed" providerId="ADAL" clId="{83A11DF3-3D43-4087-A75D-5105BDCDF87E}"/>
    <pc:docChg chg="modSld">
      <pc:chgData name="Tomáš Faltín" userId="f49ad7cc-fcd2-4bf0-a2a5-40893ad535ed" providerId="ADAL" clId="{83A11DF3-3D43-4087-A75D-5105BDCDF87E}" dt="2025-10-29T10:17:24.766" v="1" actId="20577"/>
      <pc:docMkLst>
        <pc:docMk/>
      </pc:docMkLst>
      <pc:sldChg chg="modSp mod">
        <pc:chgData name="Tomáš Faltín" userId="f49ad7cc-fcd2-4bf0-a2a5-40893ad535ed" providerId="ADAL" clId="{83A11DF3-3D43-4087-A75D-5105BDCDF87E}" dt="2025-10-29T10:14:17.199" v="0" actId="20577"/>
        <pc:sldMkLst>
          <pc:docMk/>
          <pc:sldMk cId="0" sldId="272"/>
        </pc:sldMkLst>
        <pc:spChg chg="mod">
          <ac:chgData name="Tomáš Faltín" userId="f49ad7cc-fcd2-4bf0-a2a5-40893ad535ed" providerId="ADAL" clId="{83A11DF3-3D43-4087-A75D-5105BDCDF87E}" dt="2025-10-29T10:14:17.199" v="0" actId="20577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Tomáš Faltín" userId="f49ad7cc-fcd2-4bf0-a2a5-40893ad535ed" providerId="ADAL" clId="{83A11DF3-3D43-4087-A75D-5105BDCDF87E}" dt="2025-10-29T10:17:24.766" v="1" actId="20577"/>
        <pc:sldMkLst>
          <pc:docMk/>
          <pc:sldMk cId="0" sldId="273"/>
        </pc:sldMkLst>
        <pc:spChg chg="mod">
          <ac:chgData name="Tomáš Faltín" userId="f49ad7cc-fcd2-4bf0-a2a5-40893ad535ed" providerId="ADAL" clId="{83A11DF3-3D43-4087-A75D-5105BDCDF87E}" dt="2025-10-29T10:17:24.766" v="1" actId="20577"/>
          <ac:spMkLst>
            <pc:docMk/>
            <pc:sldMk cId="0" sldId="273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3215004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413" y="1663039"/>
            <a:ext cx="3171190" cy="1133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9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22.xml"/><Relationship Id="rId7" Type="http://schemas.openxmlformats.org/officeDocument/2006/relationships/image" Target="../media/image18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4.xml"/><Relationship Id="rId4" Type="http://schemas.openxmlformats.org/officeDocument/2006/relationships/image" Target="../media/image2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9.xml"/><Relationship Id="rId4" Type="http://schemas.openxmlformats.org/officeDocument/2006/relationships/image" Target="../media/image24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39.xml"/><Relationship Id="rId4" Type="http://schemas.openxmlformats.org/officeDocument/2006/relationships/image" Target="../media/image2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9.xml"/><Relationship Id="rId4" Type="http://schemas.openxmlformats.org/officeDocument/2006/relationships/image" Target="../media/image26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9.xml"/><Relationship Id="rId4" Type="http://schemas.openxmlformats.org/officeDocument/2006/relationships/image" Target="../media/image27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49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7" Type="http://schemas.openxmlformats.org/officeDocument/2006/relationships/slide" Target="slide5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402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(4th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edition,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01)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4695" y="2408870"/>
            <a:ext cx="333882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8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07:</a:t>
            </a:r>
            <a:r>
              <a:rPr sz="1400" spc="2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Consistency</a:t>
            </a:r>
            <a:r>
              <a:rPr sz="1400" spc="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and</a:t>
            </a:r>
            <a:r>
              <a:rPr sz="1400" spc="8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Replication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45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96545" algn="just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replicate</a:t>
            </a:r>
            <a:endParaRPr sz="1000">
              <a:latin typeface="Arial"/>
              <a:cs typeface="Arial"/>
            </a:endParaRPr>
          </a:p>
          <a:p>
            <a:pPr marL="298450" marR="43180" algn="just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 </a:t>
            </a:r>
            <a:r>
              <a:rPr sz="900" dirty="0">
                <a:latin typeface="Arial"/>
                <a:cs typeface="Arial"/>
              </a:rPr>
              <a:t>(meaning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data).</a:t>
            </a:r>
            <a:endParaRPr sz="900">
              <a:latin typeface="Arial"/>
              <a:cs typeface="Arial"/>
            </a:endParaRPr>
          </a:p>
          <a:p>
            <a:pPr marL="555625" marR="10604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Increase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reliability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switch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repairing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one.</a:t>
            </a:r>
            <a:endParaRPr sz="900">
              <a:latin typeface="Arial"/>
              <a:cs typeface="Arial"/>
            </a:endParaRPr>
          </a:p>
          <a:p>
            <a:pPr marL="555625" marR="74295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Performance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balanced,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quick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proximity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account.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02260" marR="15494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changes,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kept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5" dirty="0">
                <a:latin typeface="Arial"/>
                <a:cs typeface="Arial"/>
              </a:rPr>
              <a:t> be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98581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6400" cy="2373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Performance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48590" indent="-3810">
              <a:lnSpc>
                <a:spcPts val="1210"/>
              </a:lnSpc>
              <a:spcBef>
                <a:spcPts val="4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conflicting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Conflicting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operations: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world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endParaRPr sz="1000">
              <a:latin typeface="Arial"/>
              <a:cs typeface="Arial"/>
            </a:endParaRPr>
          </a:p>
          <a:p>
            <a:pPr marL="555625" marR="51054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act </a:t>
            </a:r>
            <a:r>
              <a:rPr sz="900" spc="-10" dirty="0">
                <a:latin typeface="Arial"/>
                <a:cs typeface="Arial"/>
              </a:rPr>
              <a:t>concurrently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Write–write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conflict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costly operation,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downgrading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Solution: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weaken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consistency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requirements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hopefully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10" dirty="0">
                <a:latin typeface="Arial"/>
                <a:cs typeface="Arial"/>
              </a:rPr>
              <a:t> synchronization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avoided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705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Reasons</a:t>
            </a:r>
            <a:r>
              <a:rPr sz="500" spc="-3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for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Data-</a:t>
            </a:r>
            <a:r>
              <a:rPr dirty="0"/>
              <a:t>centric</a:t>
            </a:r>
            <a:r>
              <a:rPr spc="-40" dirty="0"/>
              <a:t> </a:t>
            </a:r>
            <a:r>
              <a:rPr dirty="0"/>
              <a:t>consistency</a:t>
            </a:r>
            <a:r>
              <a:rPr spc="-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1706"/>
            <a:ext cx="3916045" cy="11080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(distributed)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data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precisely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in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concurrency.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Essential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storages: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898" y="1694677"/>
            <a:ext cx="2058946" cy="107771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10000" cy="160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Some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0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900" i="1" spc="-1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 dirty="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NIL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Possible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behavior</a:t>
            </a:r>
            <a:endParaRPr sz="1000" dirty="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omit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draw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(x-axis):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5418" y="2101561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Sequential</a:t>
            </a:r>
            <a:r>
              <a:rPr spc="-6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91795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were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executed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sequential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individual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5804" y="1247916"/>
            <a:ext cx="1757611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93825" y="1992942"/>
            <a:ext cx="18167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45804" y="2341894"/>
            <a:ext cx="1757611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31125" y="3086933"/>
            <a:ext cx="23425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035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(initial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values: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0)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32421" y="779945"/>
          <a:ext cx="2543175" cy="43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7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8750"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03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Process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050" i="1" spc="-37" baseline="-15873" dirty="0"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94"/>
                        </a:lnSpc>
                      </a:pPr>
                      <a:r>
                        <a:rPr sz="1000" spc="15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0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i="1" spc="390" dirty="0">
                          <a:latin typeface="Menlo"/>
                          <a:cs typeface="Menlo"/>
                        </a:rPr>
                        <a:t>←</a:t>
                      </a:r>
                      <a:r>
                        <a:rPr sz="1000" i="1" spc="-1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1000" spc="130" dirty="0">
                          <a:latin typeface="Times New Roman"/>
                          <a:cs typeface="Times New Roman"/>
                        </a:rPr>
                        <a:t>1;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print(y,z);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5" dirty="0">
                          <a:latin typeface="Times New Roman"/>
                          <a:cs typeface="Times New Roman"/>
                        </a:rPr>
                        <a:t>print(x,z);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960"/>
                        </a:lnSpc>
                      </a:pPr>
                      <a:r>
                        <a:rPr sz="1000" spc="120" dirty="0">
                          <a:latin typeface="Times New Roman"/>
                          <a:cs typeface="Times New Roman"/>
                        </a:rPr>
                        <a:t>print(x,y);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7294" y="1439397"/>
            <a:ext cx="1734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execution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sequences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3352" y="1729307"/>
            <a:ext cx="3586347" cy="129317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6558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tricky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get?</a:t>
            </a:r>
            <a:endParaRPr sz="1200">
              <a:latin typeface="Arial"/>
              <a:cs typeface="Arial"/>
            </a:endParaRPr>
          </a:p>
          <a:p>
            <a:pPr marR="38735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Seemingly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okay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732844"/>
            <a:ext cx="2504620" cy="4066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293576"/>
            <a:ext cx="33458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really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(don’t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forget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1</a:t>
            </a:r>
            <a:r>
              <a:rPr sz="1050" i="1" spc="15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2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concurrently)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85621" y="1572590"/>
          <a:ext cx="2829557" cy="130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0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988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tricky</a:t>
            </a:r>
            <a:r>
              <a:rPr spc="-30" dirty="0"/>
              <a:t> </a:t>
            </a:r>
            <a:r>
              <a:rPr dirty="0"/>
              <a:t>can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20" dirty="0"/>
              <a:t>get?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63654"/>
            <a:ext cx="3913504" cy="79248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Linearizability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appear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instantaneously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moment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completion.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complete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within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given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(shaded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area)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582" y="1256515"/>
            <a:ext cx="2504620" cy="5635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1350" y="1962079"/>
            <a:ext cx="10452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better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results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86891" y="2215032"/>
          <a:ext cx="2828287" cy="941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8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2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6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3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580">
                <a:tc gridSpan="4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Possible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ordering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operations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0861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Result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361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515">
                <a:tc>
                  <a:txBody>
                    <a:bodyPr/>
                    <a:lstStyle/>
                    <a:p>
                      <a:pPr marR="762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82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;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W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b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15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7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80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)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a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Causal</a:t>
            </a:r>
            <a:r>
              <a:rPr spc="-4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99476"/>
            <a:ext cx="391922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Writes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potentially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processes.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0093" y="1246315"/>
            <a:ext cx="2808966" cy="6989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76819" y="1991355"/>
            <a:ext cx="20510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violation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0093" y="2340293"/>
            <a:ext cx="2808966" cy="69893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8405" y="3085332"/>
            <a:ext cx="2987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causally-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55" dirty="0"/>
              <a:t> </a:t>
            </a:r>
            <a:r>
              <a:rPr dirty="0"/>
              <a:t>models,</a:t>
            </a:r>
            <a:r>
              <a:rPr spc="-55" dirty="0"/>
              <a:t> </a:t>
            </a:r>
            <a:r>
              <a:rPr spc="-10" dirty="0"/>
              <a:t>serializability,</a:t>
            </a:r>
            <a:r>
              <a:rPr spc="-50" dirty="0"/>
              <a:t> </a:t>
            </a:r>
            <a:r>
              <a:rPr spc="-10" dirty="0"/>
              <a:t>transactions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0520"/>
            <a:ext cx="3916679" cy="70421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Overwhelming,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already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known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Again,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all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matches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transactions?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serializability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15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77580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5331" y="147740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3298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51050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68801" y="185318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796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97840" y="1377319"/>
          <a:ext cx="3970020" cy="650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905">
                <a:tc>
                  <a:txBody>
                    <a:bodyPr/>
                    <a:lstStyle/>
                    <a:p>
                      <a:pPr marL="31750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915"/>
                        </a:lnSpc>
                      </a:pPr>
                      <a:r>
                        <a:rPr sz="1000" spc="-105" dirty="0">
                          <a:latin typeface="Times New Roman"/>
                          <a:cs typeface="Times New Roman"/>
                        </a:rPr>
                        <a:t>BEGIN</a:t>
                      </a:r>
                      <a:r>
                        <a:rPr sz="10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20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0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095">
                <a:tc>
                  <a:txBody>
                    <a:bodyPr/>
                    <a:lstStyle/>
                    <a:p>
                      <a:pPr marL="145415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1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ts val="885"/>
                        </a:lnSpc>
                      </a:pP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9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0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45" dirty="0">
                          <a:latin typeface="Times New Roman"/>
                          <a:cs typeface="Times New Roman"/>
                        </a:rPr>
                        <a:t>3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marL="31750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ts val="865"/>
                        </a:lnSpc>
                      </a:pPr>
                      <a:r>
                        <a:rPr sz="1000" spc="-165" dirty="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sz="10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5" dirty="0">
                          <a:latin typeface="Times New Roman"/>
                          <a:cs typeface="Times New Roman"/>
                        </a:rPr>
                        <a:t>TRANSACTION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L="3746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705">
                        <a:lnSpc>
                          <a:spcPts val="980"/>
                        </a:lnSpc>
                      </a:pPr>
                      <a:r>
                        <a:rPr sz="900" spc="-2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Transaction</a:t>
                      </a:r>
                      <a:r>
                        <a:rPr sz="900" spc="4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25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</a:t>
                      </a:r>
                      <a:r>
                        <a:rPr sz="1050" i="1" spc="-37" baseline="-15873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43128" y="2085624"/>
            <a:ext cx="1318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number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schedules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410641" y="2338578"/>
          <a:ext cx="3779518" cy="801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22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10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−→</a:t>
                      </a:r>
                      <a:endParaRPr sz="800">
                        <a:latin typeface="Menlo"/>
                        <a:cs typeface="Menlo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R="8890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S4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8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Illegal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0015" cy="1116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78130" marR="1193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Grouping</a:t>
            </a:r>
            <a:r>
              <a:rPr spc="-55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55415" cy="1903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Accesses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sequentially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consistent.</a:t>
            </a:r>
            <a:endParaRPr sz="900">
              <a:latin typeface="Arial"/>
              <a:cs typeface="Arial"/>
            </a:endParaRPr>
          </a:p>
          <a:p>
            <a:pPr marL="290830" marR="1320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 have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everywhere.</a:t>
            </a:r>
            <a:endParaRPr sz="9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38100" marR="21590" indent="-3810">
              <a:lnSpc>
                <a:spcPts val="1210"/>
              </a:lnSpc>
              <a:spcBef>
                <a:spcPts val="35"/>
              </a:spcBef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series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immediately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effect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known.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666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Grouping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valid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sequence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entry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48" y="827721"/>
            <a:ext cx="3168660" cy="5189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947" y="1578430"/>
            <a:ext cx="3819525" cy="10604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Entry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(implicitly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 </a:t>
            </a:r>
            <a:r>
              <a:rPr sz="900" spc="-10" dirty="0">
                <a:latin typeface="Arial"/>
                <a:cs typeface="Arial"/>
              </a:rPr>
              <a:t>not).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17780" marR="127000" indent="-5715">
              <a:lnSpc>
                <a:spcPct val="111600"/>
              </a:lnSpc>
              <a:spcBef>
                <a:spcPts val="1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convenient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less </a:t>
            </a:r>
            <a:r>
              <a:rPr sz="900" dirty="0">
                <a:latin typeface="Arial"/>
                <a:cs typeface="Arial"/>
              </a:rPr>
              <a:t>transparent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programmers?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5758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Consistent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ordering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operations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386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 dirty="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lang="en-US" sz="1000" dirty="0">
                <a:solidFill>
                  <a:srgbClr val="3333B2"/>
                </a:solidFill>
                <a:latin typeface="Arial"/>
                <a:cs typeface="Arial"/>
              </a:rPr>
              <a:t>t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Eventual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84211"/>
            <a:ext cx="3847465" cy="27940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 dirty="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(concurrent)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strores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eventually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 </a:t>
            </a:r>
            <a:r>
              <a:rPr sz="900" dirty="0">
                <a:latin typeface="Arial"/>
                <a:cs typeface="Arial"/>
              </a:rPr>
              <a:t>moment,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(until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again).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560"/>
              </a:spcBef>
            </a:pPr>
            <a:r>
              <a:rPr sz="100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lang="en-US" sz="1000">
                <a:solidFill>
                  <a:srgbClr val="3333B2"/>
                </a:solidFill>
                <a:latin typeface="Arial"/>
                <a:cs typeface="Arial"/>
              </a:rPr>
              <a:t>t</a:t>
            </a:r>
            <a:r>
              <a:rPr sz="1000">
                <a:solidFill>
                  <a:srgbClr val="3333B2"/>
                </a:solidFill>
                <a:latin typeface="Arial"/>
                <a:cs typeface="Arial"/>
              </a:rPr>
              <a:t>rong</a:t>
            </a:r>
            <a:r>
              <a:rPr sz="1000" spc="-25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eventual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6510" marR="5461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Basic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determined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NTP,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recent”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win).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 dirty="0">
              <a:latin typeface="Arial"/>
              <a:cs typeface="Arial"/>
            </a:endParaRPr>
          </a:p>
          <a:p>
            <a:pPr marL="16510" marR="186690">
              <a:lnSpc>
                <a:spcPct val="111600"/>
              </a:lnSpc>
              <a:spcBef>
                <a:spcPts val="18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monotonic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input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P</a:t>
            </a:r>
            <a:r>
              <a:rPr sz="900" spc="50" dirty="0">
                <a:latin typeface="Arial"/>
                <a:cs typeface="Arial"/>
              </a:rPr>
              <a:t>(</a:t>
            </a:r>
            <a:r>
              <a:rPr sz="900" i="1" spc="50" dirty="0">
                <a:latin typeface="Arial"/>
                <a:cs typeface="Arial"/>
              </a:rPr>
              <a:t>S</a:t>
            </a:r>
            <a:r>
              <a:rPr sz="900" spc="5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⊆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).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program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problem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dirty="0">
                <a:latin typeface="Arial"/>
                <a:cs typeface="Arial"/>
              </a:rPr>
              <a:t>incomplete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 </a:t>
            </a:r>
            <a:r>
              <a:rPr sz="900" dirty="0">
                <a:latin typeface="Arial"/>
                <a:cs typeface="Arial"/>
              </a:rPr>
              <a:t>missing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shopping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cart.</a:t>
            </a:r>
            <a:endParaRPr sz="9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30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avoiding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synchronization.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1849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Eventual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7632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8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950" y="514774"/>
            <a:ext cx="3782695" cy="149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actually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talk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about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value</a:t>
            </a:r>
            <a:endParaRPr sz="900">
              <a:latin typeface="Arial"/>
              <a:cs typeface="Arial"/>
            </a:endParaRPr>
          </a:p>
          <a:p>
            <a:pPr marL="2965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replicas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relative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staleness</a:t>
            </a:r>
            <a:endParaRPr sz="900">
              <a:latin typeface="Arial"/>
              <a:cs typeface="Arial"/>
            </a:endParaRPr>
          </a:p>
          <a:p>
            <a:pPr marL="29654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718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performed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update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815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Conit</a:t>
            </a:r>
            <a:endParaRPr sz="1000">
              <a:latin typeface="Arial"/>
              <a:cs typeface="Arial"/>
            </a:endParaRPr>
          </a:p>
          <a:p>
            <a:pPr marL="43815" marR="196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measured.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40937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13449"/>
            <a:ext cx="3888740" cy="710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A,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[known]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@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B)</a:t>
            </a:r>
            <a:endParaRPr sz="900">
              <a:latin typeface="Arial"/>
              <a:cs typeface="Arial"/>
            </a:endParaRPr>
          </a:p>
          <a:p>
            <a:pPr marL="290830" marR="15494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[</a:t>
            </a:r>
            <a:r>
              <a:rPr sz="900" i="1" spc="-60" dirty="0">
                <a:latin typeface="Menlo"/>
                <a:cs typeface="Menlo"/>
              </a:rPr>
              <a:t>⟨</a:t>
            </a:r>
            <a:r>
              <a:rPr sz="900" spc="-60" dirty="0">
                <a:latin typeface="Arial"/>
                <a:cs typeface="Arial"/>
              </a:rPr>
              <a:t>5</a:t>
            </a:r>
            <a:r>
              <a:rPr sz="900" i="1" spc="-60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90" dirty="0">
                <a:latin typeface="Arial"/>
                <a:cs typeface="Arial"/>
              </a:rPr>
              <a:t>B</a:t>
            </a:r>
            <a:r>
              <a:rPr sz="900" i="1" spc="-90" dirty="0">
                <a:latin typeface="Menlo"/>
                <a:cs typeface="Menlo"/>
              </a:rPr>
              <a:t>⟩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45</a:t>
            </a:r>
            <a:r>
              <a:rPr sz="900" dirty="0">
                <a:latin typeface="Arial"/>
                <a:cs typeface="Arial"/>
              </a:rPr>
              <a:t>];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0" dirty="0">
                <a:latin typeface="Arial"/>
                <a:cs typeface="Arial"/>
              </a:rPr>
              <a:t> operation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(cannot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rolled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back)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17645" y="-1515"/>
            <a:ext cx="9372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Data-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0648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496" y="552710"/>
            <a:ext cx="2999125" cy="18130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2542888"/>
            <a:ext cx="3831590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(contains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variables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00" i="1" spc="-1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pending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=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missed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max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70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412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(2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482)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34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Continuous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2482"/>
            <a:ext cx="3821429" cy="16179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5400" marR="18986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321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Consistency</a:t>
            </a:r>
            <a:r>
              <a:rPr spc="-60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dirty="0"/>
              <a:t>mobile</a:t>
            </a:r>
            <a:r>
              <a:rPr spc="-55" dirty="0"/>
              <a:t> </a:t>
            </a:r>
            <a:r>
              <a:rPr spc="-10" dirty="0"/>
              <a:t>users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2482"/>
            <a:ext cx="3967479" cy="240538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38100" marR="32385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your </a:t>
            </a:r>
            <a:r>
              <a:rPr sz="900" dirty="0">
                <a:latin typeface="Arial"/>
                <a:cs typeface="Arial"/>
              </a:rPr>
              <a:t>notebook.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notebook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database.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updates.</a:t>
            </a:r>
            <a:endParaRPr sz="900">
              <a:latin typeface="Arial"/>
              <a:cs typeface="Arial"/>
            </a:endParaRPr>
          </a:p>
          <a:p>
            <a:pPr marL="290830" marR="15113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unless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inconsistencies: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5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544195" lvl="1" indent="-121285">
              <a:lnSpc>
                <a:spcPct val="100000"/>
              </a:lnSpc>
              <a:spcBef>
                <a:spcPts val="125"/>
              </a:spcBef>
              <a:buClr>
                <a:srgbClr val="264C26"/>
              </a:buClr>
              <a:buFont typeface="Menlo"/>
              <a:buChar char="•"/>
              <a:tabLst>
                <a:tab pos="544830" algn="l"/>
              </a:tabLst>
            </a:pPr>
            <a:r>
              <a:rPr sz="900" dirty="0">
                <a:latin typeface="Arial"/>
                <a:cs typeface="Arial"/>
              </a:rPr>
              <a:t>your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those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177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entries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and/or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,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left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appear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</a:t>
            </a:r>
            <a:r>
              <a:rPr spc="-3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49059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accessing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database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936" y="910835"/>
            <a:ext cx="3374806" cy="206239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dirty="0"/>
              <a:t>consistency:</a:t>
            </a:r>
            <a:r>
              <a:rPr spc="45" dirty="0"/>
              <a:t> </a:t>
            </a:r>
            <a:r>
              <a:rPr spc="-10" dirty="0"/>
              <a:t>notation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914775" cy="10109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1050" i="1" spc="-15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;</a:t>
            </a:r>
            <a:r>
              <a:rPr sz="900" spc="-1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previous version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10" dirty="0">
                <a:solidFill>
                  <a:srgbClr val="C80000"/>
                </a:solidFill>
                <a:latin typeface="Menlo"/>
                <a:cs typeface="Menlo"/>
              </a:rPr>
              <a:t>|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x</a:t>
            </a:r>
            <a:r>
              <a:rPr sz="1050" i="1" spc="-165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indicates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produces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concurrently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72482"/>
            <a:ext cx="3895725" cy="14370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30480">
              <a:lnSpc>
                <a:spcPct val="111600"/>
              </a:lnSpc>
              <a:spcBef>
                <a:spcPts val="170"/>
              </a:spcBef>
            </a:pPr>
            <a:r>
              <a:rPr sz="900" spc="-10" dirty="0">
                <a:latin typeface="Arial"/>
                <a:cs typeface="Arial"/>
              </a:rPr>
              <a:t>Automatically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personal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calendar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from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automatic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Reading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modifying)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move.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e-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fetches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visited.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successive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98905" y="1516870"/>
            <a:ext cx="2006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monotonic-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99032" y="2354917"/>
            <a:ext cx="26066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3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926204" cy="1283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8575" marR="177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 </a:t>
            </a:r>
            <a:r>
              <a:rPr sz="900" dirty="0">
                <a:latin typeface="Arial"/>
                <a:cs typeface="Arial"/>
              </a:rPr>
              <a:t>compilation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25400" marR="201930" indent="317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Maintaining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versions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everywhere </a:t>
            </a:r>
            <a:r>
              <a:rPr sz="900" dirty="0">
                <a:latin typeface="Arial"/>
                <a:cs typeface="Arial"/>
              </a:rPr>
              <a:t>(propagate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installed).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Monotonic</a:t>
            </a:r>
            <a:r>
              <a:rPr spc="-6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643629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completed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5" dirty="0">
                <a:latin typeface="Arial"/>
                <a:cs typeface="Arial"/>
              </a:rPr>
              <a:t> any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320" y="1246658"/>
            <a:ext cx="1717261" cy="33883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20599" y="1246658"/>
            <a:ext cx="1717261" cy="33883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78166" y="165951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9997" y="165951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4320" y="2173428"/>
            <a:ext cx="1717261" cy="33883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20599" y="2173428"/>
            <a:ext cx="1717261" cy="33883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73746" y="2586286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64421" y="2586286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4" name="object 14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3467" y="3349927"/>
            <a:ext cx="5010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8" action="ppaction://hlinksldjump"/>
              </a:rPr>
              <a:t>Monotonic</a:t>
            </a:r>
            <a:r>
              <a:rPr sz="500" spc="-30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354917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Read</a:t>
            </a:r>
            <a:r>
              <a:rPr spc="-45" dirty="0"/>
              <a:t> </a:t>
            </a:r>
            <a:r>
              <a:rPr dirty="0"/>
              <a:t>your</a:t>
            </a:r>
            <a:r>
              <a:rPr spc="-45" dirty="0"/>
              <a:t> </a:t>
            </a:r>
            <a:r>
              <a:rPr spc="-10" dirty="0"/>
              <a:t>writes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81063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effect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successive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131850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516870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1969898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7294" y="2354917"/>
            <a:ext cx="390842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Updating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newest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instead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copy.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49974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Read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your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writes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06485" y="2485524"/>
            <a:ext cx="3994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Writes</a:t>
            </a:r>
            <a:r>
              <a:rPr spc="-30" dirty="0"/>
              <a:t> </a:t>
            </a:r>
            <a:r>
              <a:rPr spc="-10" dirty="0"/>
              <a:t>follow</a:t>
            </a:r>
            <a:r>
              <a:rPr spc="-30" dirty="0"/>
              <a:t> </a:t>
            </a:r>
            <a:r>
              <a:rPr spc="-10" dirty="0"/>
              <a:t>reads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previous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read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5179" y="1262457"/>
            <a:ext cx="1717261" cy="3388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10904" y="1647477"/>
            <a:ext cx="1905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5179" y="2100504"/>
            <a:ext cx="1717261" cy="3388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35915" y="2485524"/>
            <a:ext cx="3827145" cy="732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2395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OK</a:t>
            </a:r>
            <a:endParaRPr sz="9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71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12700" marR="5080" indent="1079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See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articles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dirty="0">
                <a:latin typeface="Arial"/>
                <a:cs typeface="Arial"/>
              </a:rPr>
              <a:t>“pulls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581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Writes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follow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reads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8379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Client-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centric consistency</a:t>
            </a:r>
            <a:r>
              <a:rPr sz="500" spc="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models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spc="-10" dirty="0"/>
              <a:t>ZooKeeper</a:t>
            </a:r>
            <a:r>
              <a:rPr spc="-35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429000" cy="7518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Yet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another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model?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ZooKeeper’s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mixes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elements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centric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Take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naive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630" y="1363792"/>
            <a:ext cx="2475035" cy="127555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1410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centric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consistency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in</a:t>
            </a:r>
            <a:r>
              <a:rPr sz="500" spc="-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76954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placement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006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3633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Replica</a:t>
            </a:r>
            <a:r>
              <a:rPr spc="-55" dirty="0"/>
              <a:t> </a:t>
            </a:r>
            <a:r>
              <a:rPr spc="-10" dirty="0"/>
              <a:t>placement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18732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possible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locations.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25" dirty="0">
                <a:latin typeface="Menlo"/>
                <a:cs typeface="Menlo"/>
              </a:rPr>
              <a:t>−</a:t>
            </a:r>
            <a:r>
              <a:rPr sz="900" i="1" spc="125" dirty="0">
                <a:latin typeface="Arial"/>
                <a:cs typeface="Arial"/>
              </a:rPr>
              <a:t>K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average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minimal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choose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Note:</a:t>
            </a:r>
            <a:r>
              <a:rPr sz="900" spc="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minimizes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clients.)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970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Select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autonomous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spc="-10" dirty="0">
                <a:latin typeface="Arial"/>
                <a:cs typeface="Arial"/>
              </a:rPr>
              <a:t>best-</a:t>
            </a:r>
            <a:r>
              <a:rPr sz="900" dirty="0">
                <a:latin typeface="Arial"/>
                <a:cs typeface="Arial"/>
              </a:rPr>
              <a:t>connected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</a:t>
            </a:r>
            <a:r>
              <a:rPr sz="9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expensive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022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Position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geometric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distance </a:t>
            </a:r>
            <a:r>
              <a:rPr sz="900" dirty="0">
                <a:latin typeface="Arial"/>
                <a:cs typeface="Arial"/>
              </a:rPr>
              <a:t>reflects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latency.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density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Computationally cheap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48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Finding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best</a:t>
            </a:r>
            <a:r>
              <a:rPr sz="500" spc="-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server</a:t>
            </a:r>
            <a:r>
              <a:rPr sz="500" spc="-2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location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0520"/>
            <a:ext cx="3853815" cy="131572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Distinguish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data:</a:t>
            </a:r>
            <a:endParaRPr sz="9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52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Permanent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replicas:</a:t>
            </a:r>
            <a:r>
              <a:rPr sz="900" spc="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Process/machine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store</a:t>
            </a:r>
            <a:endParaRPr sz="900">
              <a:latin typeface="Arial"/>
              <a:cs typeface="Arial"/>
            </a:endParaRPr>
          </a:p>
          <a:p>
            <a:pPr marL="281940" marR="6223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replica:</a:t>
            </a:r>
            <a:r>
              <a:rPr sz="9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5" dirty="0">
                <a:latin typeface="Arial"/>
                <a:cs typeface="Arial"/>
              </a:rPr>
              <a:t> on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replication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65487"/>
            <a:ext cx="3917315" cy="360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organization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kinds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copies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store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into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concentric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rings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277" y="931702"/>
            <a:ext cx="3610382" cy="125986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038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Counting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access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requests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from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different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clients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175" y="802591"/>
            <a:ext cx="2474389" cy="129148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207885"/>
            <a:ext cx="3736340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304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latin typeface="Arial"/>
                <a:cs typeface="Arial"/>
              </a:rPr>
              <a:t>Keep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aggregated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 </a:t>
            </a:r>
            <a:r>
              <a:rPr sz="900" dirty="0">
                <a:latin typeface="Arial"/>
                <a:cs typeface="Arial"/>
              </a:rPr>
              <a:t>closest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clients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drops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drop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threshold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replicate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migrate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file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85519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replication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and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placement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6845" cy="1598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combination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notification/invalidation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(often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caches)</a:t>
            </a:r>
            <a:endParaRPr sz="900">
              <a:latin typeface="Arial"/>
              <a:cs typeface="Arial"/>
            </a:endParaRPr>
          </a:p>
          <a:p>
            <a:pPr marL="290830" marR="7429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spc="-25" dirty="0">
                <a:latin typeface="Arial"/>
                <a:cs typeface="Arial"/>
              </a:rPr>
              <a:t>Transfer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databases):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passive replication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Propagate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active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replication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32384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single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best,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available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bandwidth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spc="-10" dirty="0">
                <a:latin typeface="Arial"/>
                <a:cs typeface="Arial"/>
              </a:rPr>
              <a:t>read-to-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ratio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60" dirty="0"/>
              <a:t> </a:t>
            </a:r>
            <a:r>
              <a:rPr dirty="0"/>
              <a:t>distribution:</a:t>
            </a:r>
            <a:r>
              <a:rPr spc="10" dirty="0"/>
              <a:t> </a:t>
            </a:r>
            <a:r>
              <a:rPr dirty="0"/>
              <a:t>client/server</a:t>
            </a:r>
            <a:r>
              <a:rPr spc="-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464471"/>
            <a:ext cx="3885565" cy="1096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 marR="109855" indent="-4445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push-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pull-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the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case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multiple-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client,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single-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282575" marR="45339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Pushing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server-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regardless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target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asked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282575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Pulling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updates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initiated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6513" y="1663039"/>
          <a:ext cx="3089909" cy="1133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Issue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Push-based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Pull-based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List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client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caches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0" dirty="0">
                          <a:latin typeface="Arial"/>
                          <a:cs typeface="Arial"/>
                        </a:rPr>
                        <a:t>None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(and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possibly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fetch</a:t>
                      </a:r>
                      <a:r>
                        <a:rPr sz="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Poll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update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3: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Immediate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(or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time)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Fetch-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update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time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695">
                <a:tc gridSpan="3"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1:</a:t>
                      </a:r>
                      <a:r>
                        <a:rPr sz="800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State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server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8105" marR="1649730">
                        <a:lnSpc>
                          <a:spcPct val="13010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2: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exchanged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3:</a:t>
                      </a:r>
                      <a:r>
                        <a:rPr sz="800" i="1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Response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client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23556"/>
            <a:ext cx="3944620" cy="12833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480" marR="14033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83210" marR="1778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838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1731902"/>
            <a:ext cx="3788410" cy="48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270" marR="5080" indent="-116205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23556"/>
            <a:ext cx="379666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148" y="2241807"/>
            <a:ext cx="3409950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11600"/>
              </a:lnSpc>
              <a:spcBef>
                <a:spcPts val="100"/>
              </a:spcBef>
              <a:buFont typeface="Menlo"/>
              <a:buChar char="•"/>
              <a:tabLst>
                <a:tab pos="13335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Content</a:t>
            </a:r>
            <a:r>
              <a:rPr spc="-5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23556"/>
            <a:ext cx="3977640" cy="2630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3180" marR="16065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dynamically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switch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contract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promises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push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lease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expires.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Make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lease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expiration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adaptive</a:t>
            </a:r>
            <a:endParaRPr sz="1000">
              <a:latin typeface="Arial"/>
              <a:cs typeface="Arial"/>
            </a:endParaRPr>
          </a:p>
          <a:p>
            <a:pPr marL="295910" marR="38100" indent="-120650">
              <a:lnSpc>
                <a:spcPct val="111600"/>
              </a:lnSpc>
              <a:spcBef>
                <a:spcPts val="565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Age-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future,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long-</a:t>
            </a:r>
            <a:r>
              <a:rPr sz="900" dirty="0">
                <a:latin typeface="Arial"/>
                <a:cs typeface="Arial"/>
              </a:rPr>
              <a:t>lasting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lease</a:t>
            </a:r>
            <a:endParaRPr sz="900">
              <a:latin typeface="Arial"/>
              <a:cs typeface="Arial"/>
            </a:endParaRPr>
          </a:p>
          <a:p>
            <a:pPr marL="292100" marR="30480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Renewal-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frequency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specific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expiration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object)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be</a:t>
            </a:r>
            <a:endParaRPr sz="900">
              <a:latin typeface="Arial"/>
              <a:cs typeface="Arial"/>
            </a:endParaRPr>
          </a:p>
          <a:p>
            <a:pPr marL="295910" marR="408305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9654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State-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leases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loaded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shorter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expiration </a:t>
            </a:r>
            <a:r>
              <a:rPr sz="900" dirty="0">
                <a:latin typeface="Arial"/>
                <a:cs typeface="Arial"/>
              </a:rPr>
              <a:t>times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become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900" dirty="0">
                <a:latin typeface="Arial"/>
                <a:cs typeface="Arial"/>
              </a:rPr>
              <a:t>Why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this?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702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Content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9001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Managing</a:t>
            </a:r>
            <a:r>
              <a:rPr spc="-60" dirty="0"/>
              <a:t> </a:t>
            </a:r>
            <a:r>
              <a:rPr dirty="0"/>
              <a:t>replicated</a:t>
            </a:r>
            <a:r>
              <a:rPr spc="-55" dirty="0"/>
              <a:t> </a:t>
            </a:r>
            <a:r>
              <a:rPr spc="-10" dirty="0"/>
              <a:t>objects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67448" y="499583"/>
            <a:ext cx="3822065" cy="995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29209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invocations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object: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serialized.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 </a:t>
            </a:r>
            <a:r>
              <a:rPr sz="900" dirty="0">
                <a:latin typeface="Arial"/>
                <a:cs typeface="Arial"/>
              </a:rPr>
              <a:t>locking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mechanisms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sufficient.</a:t>
            </a:r>
            <a:endParaRPr sz="900">
              <a:latin typeface="Arial"/>
              <a:cs typeface="Arial"/>
            </a:endParaRPr>
          </a:p>
          <a:p>
            <a:pPr marL="145415" marR="17780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146050" algn="l"/>
              </a:tabLst>
            </a:pP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object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same: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independent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method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invocations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deterministic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scheduling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954" y="1607649"/>
            <a:ext cx="2931246" cy="152179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7451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invocating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909" y="798784"/>
            <a:ext cx="2680588" cy="163427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31424" y="-1515"/>
            <a:ext cx="6235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management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932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Replicated-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object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invocations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5008" y="602059"/>
            <a:ext cx="1806456" cy="156256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4775" y="562837"/>
            <a:ext cx="1476161" cy="157521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8273" y="2205070"/>
            <a:ext cx="10966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Forwarding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latin typeface="Arial"/>
                <a:cs typeface="Arial"/>
              </a:rPr>
              <a:t>request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87683" y="2205070"/>
            <a:ext cx="990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Returning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8134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Managing</a:t>
            </a:r>
            <a:r>
              <a:rPr sz="500" spc="-3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replicated</a:t>
            </a:r>
            <a:r>
              <a:rPr sz="500" spc="-2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objects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677670" cy="478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787043"/>
            <a:ext cx="2753960" cy="18608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763" y="2729131"/>
            <a:ext cx="380809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1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 protocol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5"/>
              </a:spcBef>
            </a:pPr>
            <a:r>
              <a:rPr sz="900" spc="-10" dirty="0">
                <a:latin typeface="Arial"/>
                <a:cs typeface="Arial"/>
              </a:rPr>
              <a:t>Traditionally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high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degree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tolerance.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LAN.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74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Primary-based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protocol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7011" y="804155"/>
            <a:ext cx="2753960" cy="180191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710983"/>
            <a:ext cx="3876675" cy="5492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primary-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backup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protocol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with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local</a:t>
            </a:r>
            <a:r>
              <a:rPr sz="1000" spc="-2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writes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disconnected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(ship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before disconnecting,</a:t>
            </a:r>
            <a:r>
              <a:rPr sz="900" dirty="0">
                <a:latin typeface="Arial"/>
                <a:cs typeface="Arial"/>
              </a:rPr>
              <a:t> and update later </a:t>
            </a:r>
            <a:r>
              <a:rPr sz="900" spc="-20" dirty="0">
                <a:latin typeface="Arial"/>
                <a:cs typeface="Arial"/>
              </a:rPr>
              <a:t>on).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400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Sequential</a:t>
            </a:r>
            <a:r>
              <a:rPr sz="500" spc="-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consistency: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Primary-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based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Replicated-</a:t>
            </a:r>
            <a:r>
              <a:rPr dirty="0"/>
              <a:t>write</a:t>
            </a:r>
            <a:r>
              <a:rPr spc="30" dirty="0"/>
              <a:t> </a:t>
            </a:r>
            <a:r>
              <a:rPr spc="-10" dirty="0"/>
              <a:t>protocols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72482"/>
            <a:ext cx="3845560" cy="10953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Quorum-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protocols</a:t>
            </a:r>
            <a:endParaRPr sz="1000">
              <a:latin typeface="Arial"/>
              <a:cs typeface="Arial"/>
            </a:endParaRPr>
          </a:p>
          <a:p>
            <a:pPr marL="28575" marR="177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carried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way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majority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established: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1050" i="1" baseline="-15873" dirty="0">
                <a:latin typeface="Arial"/>
                <a:cs typeface="Arial"/>
              </a:rPr>
              <a:t>R</a:t>
            </a:r>
            <a:r>
              <a:rPr sz="1050" i="1" spc="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write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quorum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</a:t>
            </a:r>
            <a:r>
              <a:rPr sz="1050" i="1" spc="-15" baseline="-15873" dirty="0">
                <a:latin typeface="Arial"/>
                <a:cs typeface="Arial"/>
              </a:rPr>
              <a:t>W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Ensure: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1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C80000"/>
                </a:solidFill>
                <a:latin typeface="Arial"/>
                <a:cs typeface="Arial"/>
              </a:rPr>
              <a:t>+</a:t>
            </a:r>
            <a:r>
              <a:rPr sz="900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09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spc="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read-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0" dirty="0">
                <a:latin typeface="Arial"/>
                <a:cs typeface="Arial"/>
              </a:rPr>
              <a:t> conflicts)</a:t>
            </a:r>
            <a:endParaRPr sz="900">
              <a:latin typeface="Arial"/>
              <a:cs typeface="Arial"/>
            </a:endParaRPr>
          </a:p>
          <a:p>
            <a:pPr marL="281940" indent="-1587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Arial"/>
              <a:buAutoNum type="arabicPeriod"/>
              <a:tabLst>
                <a:tab pos="28257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1050" i="1" spc="225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65" dirty="0">
                <a:solidFill>
                  <a:srgbClr val="C80000"/>
                </a:solidFill>
                <a:latin typeface="Arial"/>
                <a:cs typeface="Arial"/>
              </a:rPr>
              <a:t>&gt;</a:t>
            </a:r>
            <a:r>
              <a:rPr sz="900" i="1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N/</a:t>
            </a:r>
            <a:r>
              <a:rPr sz="900" spc="8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(prevent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 </a:t>
            </a:r>
            <a:r>
              <a:rPr sz="900" spc="-10" dirty="0">
                <a:latin typeface="Arial"/>
                <a:cs typeface="Arial"/>
              </a:rPr>
              <a:t>conflicts)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8256" y="1914932"/>
            <a:ext cx="901587" cy="792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3183" y="1914932"/>
            <a:ext cx="901587" cy="792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78124" y="1914932"/>
            <a:ext cx="901587" cy="7927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9729" y="2774691"/>
            <a:ext cx="3987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Correct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4630" y="2774691"/>
            <a:ext cx="9588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Write-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conflict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04433" y="2774691"/>
            <a:ext cx="84963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Correct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(ROWA)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467" y="3346954"/>
            <a:ext cx="14408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Sequential consistency:</a:t>
            </a:r>
            <a:r>
              <a:rPr sz="500" spc="4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Replicated-</a:t>
            </a:r>
            <a:r>
              <a:rPr sz="500" dirty="0">
                <a:latin typeface="Arial"/>
                <a:cs typeface="Arial"/>
                <a:hlinkClick r:id="rId7" action="ppaction://hlinksldjump"/>
              </a:rPr>
              <a:t>write</a:t>
            </a:r>
            <a:r>
              <a:rPr sz="500" spc="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514774"/>
            <a:ext cx="3963670" cy="17297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Principal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operation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L</a:t>
            </a:r>
            <a:r>
              <a:rPr sz="1050" i="1" spc="-15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8290" marR="30480" indent="-11747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solidFill>
                  <a:srgbClr val="C80000"/>
                </a:solidFill>
                <a:latin typeface="Arial"/>
                <a:cs typeface="Arial"/>
              </a:rPr>
              <a:t>val</a:t>
            </a:r>
            <a:r>
              <a:rPr sz="900" i="1" spc="-17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denote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969"/>
              </a:spcBef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val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00">
              <a:latin typeface="Arial"/>
              <a:cs typeface="Arial"/>
            </a:endParaRPr>
          </a:p>
          <a:p>
            <a:pPr marL="290830" marR="1257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origin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.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executed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3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originated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53365" algn="ctr">
              <a:lnSpc>
                <a:spcPct val="100000"/>
              </a:lnSpc>
              <a:spcBef>
                <a:spcPts val="57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1950" spc="-52" baseline="-8547" dirty="0">
                <a:latin typeface="Times New Roman"/>
                <a:cs typeface="Times New Roman"/>
              </a:rPr>
              <a:t>∑</a:t>
            </a:r>
            <a:r>
              <a:rPr sz="900" i="1" spc="-35" dirty="0">
                <a:latin typeface="Menlo"/>
                <a:cs typeface="Menlo"/>
              </a:rPr>
              <a:t>{</a:t>
            </a:r>
            <a:r>
              <a:rPr sz="900" i="1" spc="-35" dirty="0">
                <a:latin typeface="Arial"/>
                <a:cs typeface="Arial"/>
              </a:rPr>
              <a:t>val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)</a:t>
            </a:r>
            <a:r>
              <a:rPr sz="900" i="1" spc="-20" dirty="0">
                <a:latin typeface="Menlo"/>
                <a:cs typeface="Menlo"/>
              </a:rPr>
              <a:t>|</a:t>
            </a:r>
            <a:r>
              <a:rPr sz="900" i="1" spc="-20" dirty="0">
                <a:latin typeface="Arial"/>
                <a:cs typeface="Arial"/>
              </a:rPr>
              <a:t>origin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7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&amp;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3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i="1" spc="-50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4607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Actual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53983" y="929718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5866" y="975988"/>
            <a:ext cx="1356360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8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35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52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9558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049" y="1366565"/>
            <a:ext cx="13417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5082" y="1522262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8028" y="1568532"/>
            <a:ext cx="1212215" cy="332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79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init</a:t>
            </a:r>
            <a:r>
              <a:rPr sz="1050" i="1" spc="7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120" dirty="0">
                <a:latin typeface="Arial"/>
                <a:cs typeface="Arial"/>
              </a:rPr>
              <a:t> </a:t>
            </a:r>
            <a:r>
              <a:rPr sz="1950" baseline="-8547" dirty="0">
                <a:latin typeface="Times New Roman"/>
                <a:cs typeface="Times New Roman"/>
              </a:rPr>
              <a:t>∑</a:t>
            </a:r>
            <a:r>
              <a:rPr sz="1950" spc="30" baseline="-8547" dirty="0">
                <a:latin typeface="Times New Roman"/>
                <a:cs typeface="Times New Roman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 marL="118110" algn="ctr">
              <a:lnSpc>
                <a:spcPct val="100000"/>
              </a:lnSpc>
              <a:spcBef>
                <a:spcPts val="25"/>
              </a:spcBef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=1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0368" y="-1515"/>
            <a:ext cx="64452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16611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Continuous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consistency: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Numerical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307"/>
            <a:ext cx="3944620" cy="9271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99307"/>
            <a:ext cx="3970020" cy="14859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v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&lt;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 </a:t>
            </a:r>
            <a:r>
              <a:rPr sz="900" spc="-25" dirty="0">
                <a:latin typeface="Arial"/>
                <a:cs typeface="Arial"/>
              </a:rPr>
              <a:t>of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gossiped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propagated.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1162685">
              <a:lnSpc>
                <a:spcPct val="100000"/>
              </a:lnSpc>
              <a:spcBef>
                <a:spcPts val="5"/>
              </a:spcBef>
            </a:pPr>
            <a:r>
              <a:rPr sz="900" dirty="0">
                <a:latin typeface="Arial"/>
                <a:cs typeface="Arial"/>
              </a:rPr>
              <a:t>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j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6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938904" cy="75692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36650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14573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Continuous</a:t>
            </a:r>
            <a:r>
              <a:rPr spc="-65" dirty="0"/>
              <a:t> </a:t>
            </a:r>
            <a:r>
              <a:rPr dirty="0"/>
              <a:t>consistency:</a:t>
            </a:r>
            <a:r>
              <a:rPr spc="10" dirty="0"/>
              <a:t> </a:t>
            </a:r>
            <a:r>
              <a:rPr dirty="0"/>
              <a:t>Numerical</a:t>
            </a:r>
            <a:r>
              <a:rPr spc="-65" dirty="0"/>
              <a:t> </a:t>
            </a:r>
            <a:r>
              <a:rPr spc="-10" dirty="0"/>
              <a:t>errors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663" y="499476"/>
            <a:ext cx="3980815" cy="201612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53975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1050" i="1" spc="-30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112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i,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too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far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TW</a:t>
            </a:r>
            <a:r>
              <a:rPr sz="900" i="1" spc="-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[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k,</a:t>
            </a:r>
            <a:r>
              <a:rPr sz="900" i="1" spc="-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]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particular,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when</a:t>
            </a:r>
            <a:endParaRPr sz="900">
              <a:latin typeface="Arial"/>
              <a:cs typeface="Arial"/>
            </a:endParaRPr>
          </a:p>
          <a:p>
            <a:pPr marL="1165225">
              <a:lnSpc>
                <a:spcPct val="100000"/>
              </a:lnSpc>
              <a:spcBef>
                <a:spcPts val="905"/>
              </a:spcBef>
            </a:pPr>
            <a:r>
              <a:rPr sz="900" i="1" spc="-10" dirty="0">
                <a:latin typeface="Arial"/>
                <a:cs typeface="Arial"/>
              </a:rPr>
              <a:t>TW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i="1" spc="60" dirty="0">
                <a:latin typeface="Menlo"/>
                <a:cs typeface="Menlo"/>
              </a:rPr>
              <a:t>−</a:t>
            </a:r>
            <a:r>
              <a:rPr sz="900" i="1" spc="60" dirty="0">
                <a:latin typeface="Arial"/>
                <a:cs typeface="Arial"/>
              </a:rPr>
              <a:t>TW</a:t>
            </a:r>
            <a:r>
              <a:rPr sz="1050" i="1" spc="89" baseline="-15873" dirty="0">
                <a:latin typeface="Arial"/>
                <a:cs typeface="Arial"/>
              </a:rPr>
              <a:t>k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i,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9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00" dirty="0">
                <a:latin typeface="Menlo"/>
                <a:cs typeface="Menlo"/>
              </a:rPr>
              <a:t> </a:t>
            </a:r>
            <a:r>
              <a:rPr sz="900" spc="-35" dirty="0">
                <a:latin typeface="Arial"/>
                <a:cs typeface="Arial"/>
              </a:rPr>
              <a:t>1)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Question</a:t>
            </a:r>
            <a:endParaRPr sz="1000">
              <a:latin typeface="Arial"/>
              <a:cs typeface="Arial"/>
            </a:endParaRPr>
          </a:p>
          <a:p>
            <a:pPr marL="53975" marR="147955" indent="-3810">
              <a:lnSpc>
                <a:spcPct val="111600"/>
              </a:lnSpc>
              <a:spcBef>
                <a:spcPts val="2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pessimistic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here: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δ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/</a:t>
            </a:r>
            <a:r>
              <a:rPr sz="900" spc="80" dirty="0">
                <a:latin typeface="Arial"/>
                <a:cs typeface="Arial"/>
              </a:rPr>
              <a:t>(</a:t>
            </a:r>
            <a:r>
              <a:rPr sz="900" i="1" spc="80" dirty="0">
                <a:latin typeface="Arial"/>
                <a:cs typeface="Arial"/>
              </a:rPr>
              <a:t>N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−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1)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come </a:t>
            </a:r>
            <a:r>
              <a:rPr sz="900" spc="-10" dirty="0">
                <a:latin typeface="Arial"/>
                <a:cs typeface="Arial"/>
              </a:rPr>
              <a:t>from?</a:t>
            </a:r>
            <a:endParaRPr sz="900">
              <a:latin typeface="Arial"/>
              <a:cs typeface="Arial"/>
            </a:endParaRPr>
          </a:p>
          <a:p>
            <a:pPr marL="53975">
              <a:lnSpc>
                <a:spcPct val="100000"/>
              </a:lnSpc>
              <a:spcBef>
                <a:spcPts val="810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53975" marR="7048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Staleness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done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analogously,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book).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76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continuous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0520"/>
            <a:ext cx="380047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78130" marR="1403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05250" cy="1923414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0985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3241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70520"/>
            <a:ext cx="3933825" cy="26606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38100" marR="137795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9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origin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writes:</a:t>
            </a:r>
            <a:endParaRPr sz="900">
              <a:latin typeface="Arial"/>
              <a:cs typeface="Arial"/>
            </a:endParaRPr>
          </a:p>
          <a:p>
            <a:pPr marL="290830" marR="26098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Read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read </a:t>
            </a:r>
            <a:r>
              <a:rPr sz="900" spc="-10" dirty="0">
                <a:latin typeface="Arial"/>
                <a:cs typeface="Arial"/>
              </a:rPr>
              <a:t>operations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Write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(identifiers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</a:t>
            </a:r>
            <a:r>
              <a:rPr sz="10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4572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  <a:p>
            <a:pPr marL="381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Monotonic-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38100" marR="17780" indent="-5715" algn="just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1706"/>
            <a:ext cx="3886835" cy="702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69054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Consistency</a:t>
            </a:r>
            <a:r>
              <a:rPr sz="500" spc="-3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protocols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Implementing</a:t>
            </a:r>
            <a:r>
              <a:rPr spc="-35" dirty="0"/>
              <a:t> </a:t>
            </a:r>
            <a:r>
              <a:rPr spc="-10" dirty="0"/>
              <a:t>client-</a:t>
            </a:r>
            <a:r>
              <a:rPr dirty="0"/>
              <a:t>centric</a:t>
            </a:r>
            <a:r>
              <a:rPr spc="-30" dirty="0"/>
              <a:t> </a:t>
            </a:r>
            <a:r>
              <a:rPr spc="-10" dirty="0"/>
              <a:t>consistency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471706"/>
            <a:ext cx="3887470" cy="14395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434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Read-your-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writes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8415" marR="5080" indent="-5715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is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Writes-follows-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reads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endParaRPr sz="1000">
              <a:latin typeface="Arial"/>
              <a:cs typeface="Arial"/>
            </a:endParaRPr>
          </a:p>
          <a:p>
            <a:pPr marL="18415" marR="5080" indent="-5715" algn="just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write </a:t>
            </a:r>
            <a:r>
              <a:rPr sz="900" dirty="0">
                <a:latin typeface="Arial"/>
                <a:cs typeface="Arial"/>
              </a:rPr>
              <a:t>operation,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271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Implementing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client-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centric</a:t>
            </a:r>
            <a:r>
              <a:rPr sz="500" spc="6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consistency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765" cy="1687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side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browser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site,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notably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Web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proxy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Caches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ISPs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Internet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cross-</a:t>
            </a:r>
            <a:r>
              <a:rPr sz="900" dirty="0">
                <a:latin typeface="Arial"/>
                <a:cs typeface="Arial"/>
              </a:rPr>
              <a:t>ISP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traffic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(2)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improve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side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nasty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ISPs.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4046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Cooperative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814" y="552842"/>
            <a:ext cx="3100044" cy="158898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23260" algn="l"/>
              </a:tabLst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Web-</a:t>
            </a:r>
            <a:r>
              <a:rPr dirty="0"/>
              <a:t>cache</a:t>
            </a:r>
            <a:r>
              <a:rPr spc="-10" dirty="0"/>
              <a:t> consistency</a:t>
            </a:r>
          </a:p>
        </p:txBody>
      </p:sp>
      <p:sp>
        <p:nvSpPr>
          <p:cNvPr id="4" name="object 4"/>
          <p:cNvSpPr/>
          <p:nvPr/>
        </p:nvSpPr>
        <p:spPr>
          <a:xfrm>
            <a:off x="3489769" y="1569618"/>
            <a:ext cx="26670" cy="0"/>
          </a:xfrm>
          <a:custGeom>
            <a:avLst/>
            <a:gdLst/>
            <a:ahLst/>
            <a:cxnLst/>
            <a:rect l="l" t="t" r="r" b="b"/>
            <a:pathLst>
              <a:path w="26670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20479" y="2136444"/>
            <a:ext cx="26670" cy="0"/>
          </a:xfrm>
          <a:custGeom>
            <a:avLst/>
            <a:gdLst/>
            <a:ahLst/>
            <a:cxnLst/>
            <a:rect l="l" t="t" r="r" b="b"/>
            <a:pathLst>
              <a:path w="26669">
                <a:moveTo>
                  <a:pt x="0" y="0"/>
                </a:moveTo>
                <a:lnTo>
                  <a:pt x="2656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1063" y="470520"/>
            <a:ext cx="3942715" cy="1939289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guarantee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freshness?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309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prevent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client:</a:t>
            </a:r>
            <a:endParaRPr sz="900">
              <a:latin typeface="Arial"/>
              <a:cs typeface="Arial"/>
            </a:endParaRPr>
          </a:p>
          <a:p>
            <a:pPr marL="281940" marR="22225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still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date.</a:t>
            </a:r>
            <a:endParaRPr sz="9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Option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Assign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expiration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ago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last</a:t>
            </a:r>
            <a:r>
              <a:rPr sz="1050" i="1" spc="52" baseline="-15873" dirty="0">
                <a:latin typeface="Arial"/>
                <a:cs typeface="Arial"/>
              </a:rPr>
              <a:t> </a:t>
            </a:r>
            <a:r>
              <a:rPr sz="1050" i="1" baseline="-15873" dirty="0">
                <a:latin typeface="Arial"/>
                <a:cs typeface="Arial"/>
              </a:rPr>
              <a:t>modified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last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owner),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cached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then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Arial"/>
              <a:cs typeface="Arial"/>
            </a:endParaRPr>
          </a:p>
          <a:p>
            <a:pPr marL="1012190">
              <a:lnSpc>
                <a:spcPct val="100000"/>
              </a:lnSpc>
            </a:pP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expire</a:t>
            </a:r>
            <a:r>
              <a:rPr sz="700" i="1" spc="15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=</a:t>
            </a:r>
            <a:r>
              <a:rPr sz="1350" spc="44" baseline="123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Times New Roman"/>
                <a:cs typeface="Times New Roman"/>
              </a:rPr>
              <a:t>α</a:t>
            </a:r>
            <a:r>
              <a:rPr sz="1350" baseline="12345" dirty="0">
                <a:latin typeface="Arial"/>
                <a:cs typeface="Arial"/>
              </a:rPr>
              <a:t>(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cached</a:t>
            </a:r>
            <a:r>
              <a:rPr sz="700" i="1" spc="45" dirty="0">
                <a:latin typeface="Arial"/>
                <a:cs typeface="Arial"/>
              </a:rPr>
              <a:t> </a:t>
            </a:r>
            <a:r>
              <a:rPr sz="1350" i="1" baseline="12345" dirty="0">
                <a:latin typeface="Menlo"/>
                <a:cs typeface="Menlo"/>
              </a:rPr>
              <a:t>−</a:t>
            </a:r>
            <a:r>
              <a:rPr sz="1350" i="1" baseline="1234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last</a:t>
            </a:r>
            <a:r>
              <a:rPr sz="700" i="1" spc="165" dirty="0">
                <a:latin typeface="Arial"/>
                <a:cs typeface="Arial"/>
              </a:rPr>
              <a:t> </a:t>
            </a:r>
            <a:r>
              <a:rPr sz="700" i="1" dirty="0">
                <a:latin typeface="Arial"/>
                <a:cs typeface="Arial"/>
              </a:rPr>
              <a:t>modified</a:t>
            </a:r>
            <a:r>
              <a:rPr sz="1350" baseline="12345" dirty="0">
                <a:latin typeface="Arial"/>
                <a:cs typeface="Arial"/>
              </a:rPr>
              <a:t>)</a:t>
            </a:r>
            <a:r>
              <a:rPr sz="1350" spc="-104" baseline="12345" dirty="0">
                <a:latin typeface="Arial"/>
                <a:cs typeface="Arial"/>
              </a:rPr>
              <a:t> </a:t>
            </a:r>
            <a:r>
              <a:rPr sz="1350" spc="277" baseline="12345" dirty="0">
                <a:latin typeface="Arial"/>
                <a:cs typeface="Arial"/>
              </a:rPr>
              <a:t>+</a:t>
            </a:r>
            <a:r>
              <a:rPr sz="1350" spc="-120" baseline="12345" dirty="0">
                <a:latin typeface="Arial"/>
                <a:cs typeface="Arial"/>
              </a:rPr>
              <a:t> </a:t>
            </a:r>
            <a:r>
              <a:rPr sz="1350" i="1" spc="-15" baseline="12345" dirty="0">
                <a:latin typeface="Arial"/>
                <a:cs typeface="Arial"/>
              </a:rPr>
              <a:t>T</a:t>
            </a:r>
            <a:r>
              <a:rPr sz="700" i="1" spc="-10" dirty="0">
                <a:latin typeface="Arial"/>
                <a:cs typeface="Arial"/>
              </a:rPr>
              <a:t>cached</a:t>
            </a:r>
            <a:endParaRPr sz="7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  <a:spcBef>
                <a:spcPts val="77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85" dirty="0">
                <a:latin typeface="Times New Roman"/>
                <a:cs typeface="Times New Roman"/>
              </a:rPr>
              <a:t>α</a:t>
            </a:r>
            <a:r>
              <a:rPr sz="900" i="1" spc="25" dirty="0">
                <a:latin typeface="Times New Roman"/>
                <a:cs typeface="Times New Roman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dirty="0">
                <a:latin typeface="Arial"/>
                <a:cs typeface="Arial"/>
              </a:rPr>
              <a:t>2.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expire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document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valid.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799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Consistency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2" action="ppaction://hlinksldjump"/>
              </a:rPr>
              <a:t>and</a:t>
            </a:r>
            <a:r>
              <a:rPr sz="500" spc="-2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replication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64585" y="-1515"/>
            <a:ext cx="12903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Example:</a:t>
            </a:r>
            <a:r>
              <a:rPr sz="500" spc="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Caching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and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replication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in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Web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289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Alternatives</a:t>
            </a:r>
            <a:r>
              <a:rPr sz="12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caching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136" y="485216"/>
            <a:ext cx="3847886" cy="174558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314248"/>
            <a:ext cx="3831590" cy="944244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22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Database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copy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origin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</a:t>
            </a:r>
            <a:endParaRPr sz="900">
              <a:latin typeface="Arial"/>
              <a:cs typeface="Arial"/>
            </a:endParaRPr>
          </a:p>
          <a:p>
            <a:pPr marL="158115" marR="304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Content-aware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check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(normal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query)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answered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cached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knows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cached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edge.</a:t>
            </a:r>
            <a:endParaRPr sz="900">
              <a:latin typeface="Arial"/>
              <a:cs typeface="Arial"/>
            </a:endParaRPr>
          </a:p>
          <a:p>
            <a:pPr marL="158115" marR="495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15875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blind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cache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query,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query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issued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again,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cache.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5657</Words>
  <Application>Microsoft Office PowerPoint</Application>
  <PresentationFormat>Custom</PresentationFormat>
  <Paragraphs>702</Paragraphs>
  <Slides>73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8" baseType="lpstr">
      <vt:lpstr>Arial</vt:lpstr>
      <vt:lpstr>Calibri</vt:lpstr>
      <vt:lpstr>Menlo</vt:lpstr>
      <vt:lpstr>Times New Roman</vt:lpstr>
      <vt:lpstr>Office Theme</vt:lpstr>
      <vt:lpstr>PowerPoint Presentation</vt:lpstr>
      <vt:lpstr>PowerPoint Presentation</vt:lpstr>
      <vt:lpstr>PowerPoint Presentation</vt:lpstr>
      <vt:lpstr>Data-centric consistency models</vt:lpstr>
      <vt:lpstr>PowerPoint Presentation</vt:lpstr>
      <vt:lpstr>Sequential consistency</vt:lpstr>
      <vt:lpstr>PowerPoint Presentation</vt:lpstr>
      <vt:lpstr>PowerPoint Presentation</vt:lpstr>
      <vt:lpstr>PowerPoint Presentation</vt:lpstr>
      <vt:lpstr>PowerPoint Presentation</vt:lpstr>
      <vt:lpstr>How tricky can it get?</vt:lpstr>
      <vt:lpstr>Causal consistency</vt:lpstr>
      <vt:lpstr>Consistency models, serializability, transactions</vt:lpstr>
      <vt:lpstr>Grouping operations</vt:lpstr>
      <vt:lpstr>Grouping operations</vt:lpstr>
      <vt:lpstr>PowerPoint Presentation</vt:lpstr>
      <vt:lpstr>Eventual consistency</vt:lpstr>
      <vt:lpstr>Eventual consistency</vt:lpstr>
      <vt:lpstr>Continuous Consistency</vt:lpstr>
      <vt:lpstr>PowerPoint Presentation</vt:lpstr>
      <vt:lpstr>PowerPoint Presentation</vt:lpstr>
      <vt:lpstr>Consistency for mobile users</vt:lpstr>
      <vt:lpstr>Consistency for mobile users</vt:lpstr>
      <vt:lpstr>Basic architecture</vt:lpstr>
      <vt:lpstr>Client-centric consistency: notation</vt:lpstr>
      <vt:lpstr>Monotonic reads</vt:lpstr>
      <vt:lpstr>Monotonic reads</vt:lpstr>
      <vt:lpstr>Monotonic writes</vt:lpstr>
      <vt:lpstr>Monotonic writes</vt:lpstr>
      <vt:lpstr>Read your writes</vt:lpstr>
      <vt:lpstr>Read your writes</vt:lpstr>
      <vt:lpstr>Writes follow reads</vt:lpstr>
      <vt:lpstr>Writes follow reads</vt:lpstr>
      <vt:lpstr>Example: ZooKeeper consistency</vt:lpstr>
      <vt:lpstr>PowerPoint Presentation</vt:lpstr>
      <vt:lpstr>Replica placement</vt:lpstr>
      <vt:lpstr>Replica placement</vt:lpstr>
      <vt:lpstr>Replica placement</vt:lpstr>
      <vt:lpstr>Content replication</vt:lpstr>
      <vt:lpstr>Content replication</vt:lpstr>
      <vt:lpstr>PowerPoint Presentation</vt:lpstr>
      <vt:lpstr>Content distribution</vt:lpstr>
      <vt:lpstr>Content distribution: client/server system</vt:lpstr>
      <vt:lpstr>Content distribution</vt:lpstr>
      <vt:lpstr>Content distribution</vt:lpstr>
      <vt:lpstr>Content distribution</vt:lpstr>
      <vt:lpstr>Content distribution</vt:lpstr>
      <vt:lpstr>Content distribution</vt:lpstr>
      <vt:lpstr>Managing replicated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Replicated-write protocols</vt:lpstr>
      <vt:lpstr>Continuous consistency: Numerical errors</vt:lpstr>
      <vt:lpstr>PowerPoint Presentation</vt:lpstr>
      <vt:lpstr>PowerPoint Presentation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Continuous consistency: Numerical errors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Implementing client-centric consistency</vt:lpstr>
      <vt:lpstr>PowerPoint Presentation</vt:lpstr>
      <vt:lpstr>PowerPoint Presentation</vt:lpstr>
      <vt:lpstr>Web-cache consistency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Tomáš Faltín</cp:lastModifiedBy>
  <cp:revision>1</cp:revision>
  <dcterms:created xsi:type="dcterms:W3CDTF">2023-04-27T06:31:27Z</dcterms:created>
  <dcterms:modified xsi:type="dcterms:W3CDTF">2025-10-29T10:17:27Z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